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  <Override PartName="/ppt/charts/chart1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presProps" Target="presProps.xml"/>
  <Relationship Id="rId16" Type="http://schemas.openxmlformats.org/officeDocument/2006/relationships/viewProps" Target="viewProps.xml"/>
  <Relationship Id="rId17" Type="http://schemas.openxmlformats.org/officeDocument/2006/relationships/tableStyles" Target="tableStyles.xml"/>
</Relationships>

</file>

<file path=ppt/charts/_rels/chart1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1.xml.xlsx"/>
</Relationships>
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 algn="l" fontAlgn="base" marL="0" marR="0" indent="0" lvl="0">
              <a:defRPr/>
            </a:pPr>
            <a:r>
              <a:rPr lang="en-US" dirty="0" b="true" i="false" strike="noStrike" sz="160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Financial Projections</a:t>
            </a:r>
            <a:endParaRPr lang="en-US" dirty="0"/>
          </a:p>
        </c:rich>
      </c:tx>
      <c:layout>
        <c:manualLayout>
          <c:xMode val="edge"/>
          <c:yMode val="edge"/>
          <c:x val="0.01"/>
          <c:y val="0.01"/>
        </c:manualLayout>
      </c:layout>
      <c:overlay val="0"/>
    </c:title>
    <c:autoTitleDeleted val="0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14B8A6">
                  <a:alpha val="100000"/>
                </a:srgbClr>
              </a:solidFill>
            </c:spPr>
          </c:dPt>
          <c:dPt>
            <c:idx val="1"/>
            <c:spPr>
              <a:solidFill>
                <a:srgbClr val="2563EB">
                  <a:alpha val="100000"/>
                </a:srgbClr>
              </a:solidFill>
            </c:spPr>
          </c:dPt>
          <c:dPt>
            <c:idx val="2"/>
            <c:spPr>
              <a:solidFill>
                <a:srgbClr val="F59E0B">
                  <a:alpha val="100000"/>
                </a:srgbClr>
              </a:solidFill>
            </c:spPr>
          </c:dPt>
          <c:dPt>
            <c:idx val="3"/>
            <c:spPr>
              <a:solidFill>
                <a:srgbClr val="EF4444">
                  <a:alpha val="100000"/>
                </a:srgbClr>
              </a:solidFill>
            </c:spPr>
          </c:dPt>
          <c:dPt>
            <c:idx val="4"/>
            <c:spPr>
              <a:solidFill>
                <a:srgbClr val="7C3AED">
                  <a:alpha val="100000"/>
                </a:srgbClr>
              </a:solidFill>
            </c:spPr>
          </c:dPt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ctr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14B8A6">
                <a:alpha val="100000"/>
              </a:srgbClr>
            </a:solidFill>
          </c:spPr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100000</c:v>
                </c:pt>
                <c:pt idx="1">
                  <c:v>500000</c:v>
                </c:pt>
                <c:pt idx="2">
                  <c:v>2000000</c:v>
                </c:pt>
                <c:pt idx="3">
                  <c:v>5000000</c:v>
                </c:pt>
                <c:pt idx="4">
                  <c:v>10000000</c:v>
                </c:pt>
              </c:numCache>
            </c:numRef>
          </c:val>
        </c:ser>
        <c:gapWidth val="8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plotVisOnly val="1"/>
    <c:dispBlanksAs val="zero"/>
  </c:chart>
  <c:spPr>
    <a:noFill/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6511521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395db62761536e6812408daa04dff6a1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d3f6bc7ed88f2cd8366d84d8937acf832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41d738e227cd73cb851f8361e8fbae63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6ceb47213dfc9f09318e2f6258ab1c94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cd0f16b40aa9f28d03b8a1317f6b3a45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d016b691bc7ef510c0702856fe44a5686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c4e1f75b6971583694bd7e080ef564e7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a75e38af253f3abbaec2283e8342e898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7a4a6f9100c6b8b562ae950f6343c159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b16495b6f41689853fdfdd6487abc3510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1.xml"/>
  <Relationship Id="rId3" Type="http://schemas.openxmlformats.org/officeDocument/2006/relationships/image" Target="../media/942604914533a2662ea4b73094c8ce8812.pn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9d0084dc6c9ce3306e952f8a6a4fee3113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2E81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DB277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7C3AE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F9731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F9731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Plan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April 29, 2026]]></a:t>
            </a:r>
          </a:p>
        </p:txBody>
      </p:sp>
      <p:pic>
        <p:nvPicPr>
          <p:cNvPr id="9" name="images.png" descr="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0" y="171450"/>
            <a:ext cx="1066800" cy="495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2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DB277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9731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7C3AE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DB277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Plan for Vortex Innovation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DB2777">
                    <a:alpha val="100000"/>
                  </a:srgbClr>
                </a:solidFill>
                <a:latin typeface="Calibri"/>
              </a:rPr>
              <a:t><![CDATA[Executive Summar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verview of the business: Vortex Innovations is a tech startup specializing in innovative software solution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ission: To revolutionize user experiences through cutting-edge technology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objectives: Achieve market leadership in AI-driven applications within 5 year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unding sought: $500,000 for initial development and marketing.]]></a:t>
            </a:r>
          </a:p>
        </p:txBody>
      </p:sp>
      <p:pic>
        <p:nvPicPr>
          <p:cNvPr id="9" name="images.png" descr="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0" y="171450"/>
            <a:ext cx="1066800" cy="495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782050" cy="5143500"/>
          <a:chOff x="0" y="0"/>
          <a:chExt cx="878205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0D948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FACC1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9333E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mpany Descriptio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ounded: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ocation: San Francisco, CA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egal structure: LLC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dustry: Technology and Softwar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Unique value proposition: Affordable, scalable AI tools for small businesses.]]></a:t>
            </a:r>
          </a:p>
        </p:txBody>
      </p:sp>
      <p:pic>
        <p:nvPicPr>
          <p:cNvPr id="9" name="images.png" descr="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0" y="171450"/>
            <a:ext cx="1066800" cy="495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2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F9731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DB277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FFF1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7C3AE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312E81">
                    <a:alpha val="100000"/>
                  </a:srgbClr>
                </a:solidFill>
                <a:latin typeface="Calibri"/>
              </a:rPr>
              <a:t><![CDATA[Market Analysi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arget market: Small to medium-sized enterprises (SMEs) in the tech sector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rket size: $100 billion globally, growing at 15% annually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petitors: Major players like Google and Microsoft; niche competitors like startups X and Y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portunities: Increasing demand for AI integration in business operation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reats: Rapid technological changes and regulatory hurdles.]]></a:t>
            </a:r>
          </a:p>
        </p:txBody>
      </p:sp>
      <p:pic>
        <p:nvPicPr>
          <p:cNvPr id="9" name="images.png" descr="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0" y="171450"/>
            <a:ext cx="1066800" cy="495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4E4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9333E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0D948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FACC1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Organization and Management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eam structure: CEO, CTO, Marketing Lead, Development Team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personnel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Jane Doe: CEO with 10 years in tech leadership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John Smith: CTO, expert in AI and machine learning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dvisors: Industry experts from Silicon Valley.]]></a:t>
            </a:r>
          </a:p>
        </p:txBody>
      </p:sp>
      <p:pic>
        <p:nvPicPr>
          <p:cNvPr id="9" name="images.png" descr="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0" y="171450"/>
            <a:ext cx="1066800" cy="495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2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DB277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9731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7C3AE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DB277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ducts or Service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lagship product: AI-Powered Business Analytics Platform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eatures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al-time data analysi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dictive modeling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User-friendly dashboard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icing: Subscription model starting at $99/month.]]></a:t>
            </a:r>
          </a:p>
        </p:txBody>
      </p:sp>
      <p:pic>
        <p:nvPicPr>
          <p:cNvPr id="9" name="images.png" descr="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0" y="171450"/>
            <a:ext cx="1066800" cy="495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782050" cy="5143500"/>
          <a:chOff x="0" y="0"/>
          <a:chExt cx="878205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0D948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FACC1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9333E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evelopment stage: Prototype ready; full launch in Q3 2026.]]></a:t>
            </a:r>
          </a:p>
        </p:txBody>
      </p:sp>
      <p:pic>
        <p:nvPicPr>
          <p:cNvPr id="9" name="images.png" descr="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0" y="171450"/>
            <a:ext cx="1066800" cy="495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2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F9731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DB277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FFF1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7C3AE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312E81">
                    <a:alpha val="100000"/>
                  </a:srgbClr>
                </a:solidFill>
                <a:latin typeface="Calibri"/>
              </a:rPr>
              <a:t><![CDATA[Marketing and Sales Strategy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rketing channels: Social media, content marketing, partnership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ales approach: Direct sales team and online demo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ustomer acquisition: Target 10,000 users in the first year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randing: Emphasize innovation and reliability.]]></a:t>
            </a:r>
          </a:p>
        </p:txBody>
      </p:sp>
      <p:pic>
        <p:nvPicPr>
          <p:cNvPr id="9" name="images.png" descr="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0" y="171450"/>
            <a:ext cx="1066800" cy="495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4E4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9333E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0D948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FACC1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Funding Request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mount needed: $500,000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Use of funds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40% Product development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30% Marketing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20% Operation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10% Contingency.]]></a:t>
            </a:r>
          </a:p>
        </p:txBody>
      </p:sp>
      <p:pic>
        <p:nvPicPr>
          <p:cNvPr id="9" name="images.png" descr="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0" y="171450"/>
            <a:ext cx="1066800" cy="495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2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DB277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9731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7C3AE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DB277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ected ROI: Break-even in 18 months; 3x return in 3 years.]]></a:t>
            </a:r>
          </a:p>
        </p:txBody>
      </p:sp>
      <p:pic>
        <p:nvPicPr>
          <p:cNvPr id="9" name="images.png" descr="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0" y="171450"/>
            <a:ext cx="1066800" cy="495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782050" cy="5143500"/>
          <a:chOff x="0" y="0"/>
          <a:chExt cx="878205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0D948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FACC1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9333E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Financial Projections]]></a:t>
            </a:r>
          </a:p>
        </p:txBody>
      </p:sp>
      <p:sp>
        <p:nvSpPr>
          <p:cNvPr id="8" name="" descr=""/>
          <p:cNvSpPr/>
          <p:nvPr/>
        </p:nvSpPr>
        <p:spPr>
          <a:xfrm>
            <a:off x="3143250" y="1295400"/>
            <a:ext cx="5143500" cy="32004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 descr=""/>
          <p:cNvSpPr/>
          <p:nvPr/>
        </p:nvSpPr>
        <p:spPr>
          <a:xfrm>
            <a:off x="3143250" y="1295400"/>
            <a:ext cx="5143500" cy="952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graphicFrame>
        <p:nvGraphicFramePr>
          <p:cNvPr id="10" name="Financial Projections" descr=""/>
          <p:cNvGraphicFramePr/>
          <p:nvPr/>
        </p:nvGraphicFramePr>
        <p:xfrm>
          <a:off x="3333750" y="1524000"/>
          <a:ext cx="47625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"/>
          <p:cNvSpPr txBox="1"/>
          <p:nvPr/>
        </p:nvSpPr>
        <p:spPr>
          <a:xfrm>
            <a:off x="3333750" y="4629150"/>
            <a:ext cx="3429000" cy="3333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Comparison by category]]></a:t>
            </a:r>
          </a:p>
        </p:txBody>
      </p:sp>
      <p:pic>
        <p:nvPicPr>
          <p:cNvPr id="12" name="images.png" descr="im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0" y="171450"/>
            <a:ext cx="1066800" cy="495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2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F9731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DB277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FFF1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7C3AE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312E81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DB2777">
                    <a:alpha val="100000"/>
                  </a:srgbClr>
                </a:solidFill>
                <a:latin typeface="Calibri"/>
              </a:rPr>
              <a:t><![CDATA[Appendix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dditional data: Market research report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egal documents: Incorporation paper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tact information: info@vortexinnovations.com]]></a:t>
            </a:r>
          </a:p>
        </p:txBody>
      </p:sp>
      <p:pic>
        <p:nvPicPr>
          <p:cNvPr id="9" name="images.png" descr="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0" y="171450"/>
            <a:ext cx="1066800" cy="495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82">
  <a:themeElements>
    <a:clrScheme name="Theme8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8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8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2026-04-29T20:40:48Z</dcterms:created>
  <dcterms:modified xsi:type="dcterms:W3CDTF">2026-04-29T20:40:48Z</dcterms:modified>
  <dc:title>Business Plan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