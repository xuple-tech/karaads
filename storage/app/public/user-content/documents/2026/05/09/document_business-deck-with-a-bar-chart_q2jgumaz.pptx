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presProps" Target="presProps.xml"/>
  <Relationship Id="rId12" Type="http://schemas.openxmlformats.org/officeDocument/2006/relationships/viewProps" Target="viewProps.xml"/>
  <Relationship Id="rId13" Type="http://schemas.openxmlformats.org/officeDocument/2006/relationships/tableStyles" Target="tableStyles.xml"/>
</Relationships>
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ml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Slide 5:  - Quarterly Revenue by Region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Pt>
            <c:idx val="3"/>
            <c:spPr>
              <a:solidFill>
                <a:srgbClr val="EF4444">
                  <a:alpha val="100000"/>
                </a:srgbClr>
              </a:solidFill>
            </c:spPr>
          </c:dPt>
          <c:dPt>
            <c:idx val="4"/>
            <c:spPr>
              <a:solidFill>
                <a:srgbClr val="7C3AED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14B8A6">
                <a:alpha val="100000"/>
              </a:srgbClr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Asia-Pacific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450</c:v>
                </c:pt>
                <c:pt idx="1">
                  <c:v>320</c:v>
                </c:pt>
                <c:pt idx="2">
                  <c:v>280</c:v>
                </c:pt>
                <c:pt idx="3">
                  <c:v>150</c:v>
                </c:pt>
                <c:pt idx="4">
                  <c:v>100</c:v>
                </c:pt>
              </c:numCache>
            </c:numRef>
          </c:val>
        </c:ser>
        <c:gapWidth val="8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69996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3162300" cy="51435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324100" y="0"/>
            <a:ext cx="685800" cy="51435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857500" y="0"/>
            <a:ext cx="171450" cy="51435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3429000" y="0"/>
            <a:ext cx="5715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5067300" y="3333750"/>
            <a:ext cx="2266950" cy="666750"/>
          </a:xfrm>
          <a:prstGeom prst="rect">
            <a:avLst/>
          </a:prstGeom>
          <a:solidFill>
            <a:srgbClr val="F4F7F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5257800" y="3619500"/>
            <a:ext cx="171450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3829050" y="952500"/>
            <a:ext cx="4095750" cy="9525"/>
          </a:xfrm>
          <a:prstGeom prst="rect">
            <a:avLst/>
          </a:prstGeom>
          <a:solidFill>
            <a:srgbClr val="E2E8F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419100" y="1562100"/>
            <a:ext cx="2171700" cy="1619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DECK WITH A BAR CHAR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19100" y="333375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D8E5F3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19100" y="3619500"/>
            <a:ext cx="238125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E7EFF8">
                    <a:alpha val="100000"/>
                  </a:srgbClr>
                </a:solidFill>
                <a:latin typeface="Calibri"/>
              </a:rPr>
              <a:t><![CDATA[May 2026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257800" y="3467100"/>
            <a:ext cx="1809750" cy="533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0E3A67">
                    <a:alpha val="100000"/>
                  </a:srgbClr>
                </a:solidFill>
                <a:latin typeface="Calibri"/>
              </a:rPr>
              <a:t><![CDATA[Executive strategy update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114550" y="0"/>
            <a:ext cx="685800" cy="51435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2647950" y="0"/>
            <a:ext cx="152400" cy="51435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162300" y="1143000"/>
            <a:ext cx="5429250" cy="30861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162300" y="1143000"/>
            <a:ext cx="542925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Deck with a Bar Chart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0E3A67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usiness Growth Strategy Overvie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d by Kwati AI Te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y 9,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fident path to scalable success in competitive markets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23E6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410200" y="0"/>
            <a:ext cx="2019300" cy="838200"/>
          </a:xfrm>
          <a:prstGeom prst="rect">
            <a:avLst/>
          </a:prstGeom>
          <a:solidFill>
            <a:srgbClr val="1A5C9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143750" y="0"/>
            <a:ext cx="209550" cy="8382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85800" y="1295400"/>
            <a:ext cx="7772400" cy="2933700"/>
          </a:xfrm>
          <a:prstGeom prst="rect">
            <a:avLst/>
          </a:prstGeom>
          <a:solidFill>
            <a:srgbClr val="F6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85800" y="1295400"/>
            <a:ext cx="7772400" cy="381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2: Company Overview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eading innovator in sustainable tech solu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10+ years of market presence with 500+ clients globall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re values: Innovation, Integrity, Impac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ission: Driving efficiency through cutting-edge business intelligenc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ur company empowers organizations to thrive in dynamic environments by leveraging data-driven insights and agile strategies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438900" y="0"/>
            <a:ext cx="2705100" cy="5143500"/>
          </a:xfrm>
          <a:prstGeom prst="rect">
            <a:avLst/>
          </a:prstGeom>
          <a:solidFill>
            <a:srgbClr val="163F6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0" y="0"/>
            <a:ext cx="419100" cy="5143500"/>
          </a:xfrm>
          <a:prstGeom prst="rect">
            <a:avLst/>
          </a:prstGeom>
          <a:solidFill>
            <a:srgbClr val="245E8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981700" y="0"/>
            <a:ext cx="133350" cy="51435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238250"/>
            <a:ext cx="4762500" cy="29908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238250"/>
            <a:ext cx="4762500" cy="381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C2B47">
                    <a:alpha val="100000"/>
                  </a:srgbClr>
                </a:solidFill>
                <a:latin typeface="Calibri"/>
              </a:rPr>
              <a:t><![CDATA[Slide 3: Market Analysi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lobal market size: $500B, growing at 8% CAGR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trends: Digital transformation and AI adop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portunities: Emerging markets in Asia-Pacific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hallenges: Regulatory hurdles and supply chain disrup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aying ahead requires proactive adaptation to these evolving dynamics, positioning us for long-term leadership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114550" y="0"/>
            <a:ext cx="685800" cy="51435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2647950" y="0"/>
            <a:ext cx="152400" cy="51435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162300" y="1143000"/>
            <a:ext cx="5429250" cy="30861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162300" y="1143000"/>
            <a:ext cx="542925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Financial Performance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 growth: 25% Yo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fit margins: Averaging 15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metrics: EBITDA up 18%, cash flow positiv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vestment in R&D: 12% of revenue allocate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figures demonstrate robust financial health and a strong foundation for expansion initiatives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23E6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410200" y="0"/>
            <a:ext cx="2019300" cy="838200"/>
          </a:xfrm>
          <a:prstGeom prst="rect">
            <a:avLst/>
          </a:prstGeom>
          <a:solidFill>
            <a:srgbClr val="1A5C9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143750" y="0"/>
            <a:ext cx="209550" cy="8382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85800" y="1295400"/>
            <a:ext cx="7772400" cy="2933700"/>
          </a:xfrm>
          <a:prstGeom prst="rect">
            <a:avLst/>
          </a:prstGeom>
          <a:solidFill>
            <a:srgbClr val="F6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85800" y="1295400"/>
            <a:ext cx="7772400" cy="381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5: Bar Chart - Quarterly Revenue by Region]]></a:t>
            </a:r>
          </a:p>
        </p:txBody>
      </p:sp>
      <p:sp>
        <p:nvSpPr>
          <p:cNvPr id="9" name="" descr=""/>
          <p:cNvSpPr/>
          <p:nvPr/>
        </p:nvSpPr>
        <p:spPr>
          <a:xfrm>
            <a:off x="3143250" y="1295400"/>
            <a:ext cx="5143500" cy="32004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0" name="" descr=""/>
          <p:cNvSpPr/>
          <p:nvPr/>
        </p:nvSpPr>
        <p:spPr>
          <a:xfrm>
            <a:off x="3143250" y="1295400"/>
            <a:ext cx="5143500" cy="952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graphicFrame>
        <p:nvGraphicFramePr>
          <p:cNvPr id="11" name="Slide 5: Bar Chart - Quarterly Revenue by Region" descr=""/>
          <p:cNvGraphicFramePr/>
          <p:nvPr/>
        </p:nvGraphicFramePr>
        <p:xfrm>
          <a:off x="3333750" y="1524000"/>
          <a:ext cx="47625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"/>
          <p:cNvSpPr txBox="1"/>
          <p:nvPr/>
        </p:nvSpPr>
        <p:spPr>
          <a:xfrm>
            <a:off x="3333750" y="4629150"/>
            <a:ext cx="3429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Comparison by category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438900" y="0"/>
            <a:ext cx="2705100" cy="5143500"/>
          </a:xfrm>
          <a:prstGeom prst="rect">
            <a:avLst/>
          </a:prstGeom>
          <a:solidFill>
            <a:srgbClr val="163F6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0" y="0"/>
            <a:ext cx="419100" cy="5143500"/>
          </a:xfrm>
          <a:prstGeom prst="rect">
            <a:avLst/>
          </a:prstGeom>
          <a:solidFill>
            <a:srgbClr val="245E8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981700" y="0"/>
            <a:ext cx="133350" cy="51435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238250"/>
            <a:ext cx="4762500" cy="29908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238250"/>
            <a:ext cx="4762500" cy="381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C2B4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63F68">
                    <a:alpha val="100000"/>
                  </a:srgbClr>
                </a:solidFill>
                <a:latin typeface="Calibri"/>
              </a:rPr>
              <a:t><![CDATA[Slide 6: Strategic Initiativ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aunch new AI-powered analytics platfor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and partnerships with 20+ Fortune 500 compani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stainability goals: Reduce carbon footprint by 30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imeline: Rollout by Q3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initiatives are designed to enhance operational efficiency and capture untapped market share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114550" y="0"/>
            <a:ext cx="685800" cy="51435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2647950" y="0"/>
            <a:ext cx="152400" cy="51435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162300" y="1143000"/>
            <a:ext cx="5429250" cy="30861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162300" y="1143000"/>
            <a:ext cx="542925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0E3A67">
                    <a:alpha val="100000"/>
                  </a:srgbClr>
                </a:solidFill>
                <a:latin typeface="Calibri"/>
              </a:rPr>
              <a:t><![CDATA[Slide 7: Next Steps and Q&A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chedule follow-up meetings for detailed discuss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iew investment opportuniti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team@kwatia.co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ank you for your time!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et's collaborate to turn these strategies into actionable results. Questions?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71">
  <a:themeElements>
    <a:clrScheme name="Theme7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8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2026-05-09T19:08:43Z</dcterms:created>
  <dcterms:modified xsi:type="dcterms:W3CDTF">2026-05-09T19:08:43Z</dcterms:modified>
  <dc:title>Business deck with a bar chart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