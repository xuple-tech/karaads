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  <Override PartName="/ppt/charts/chart1.xml" ContentType="application/vnd.openxmlformats-officedocument.drawingml.chart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presProps" Target="presProps.xml"/>
  <Relationship Id="rId18" Type="http://schemas.openxmlformats.org/officeDocument/2006/relationships/viewProps" Target="viewProps.xml"/>
  <Relationship Id="rId19" Type="http://schemas.openxmlformats.org/officeDocument/2006/relationships/tableStyles" Target="tableStyles.xml"/>
</Relationships>

</file>

<file path=ppt/charts/_rels/chart1.xml.rels><?xml version="1.0" encoding="UTF-8" standalone="yes"?>
<Relationships xmlns="http://schemas.openxmlformats.org/package/2006/relationships">
  <Relationship Id="rId1" Type="http://schemas.openxmlformats.org/officeDocument/2006/relationships/package" Target="../embeddings/chart1.xml.xlsx"/>
</Relationships>
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1"/>
  <c:lang val="en-US"/>
  <c:chart>
    <c:title>
      <c:tx>
        <c:rich>
          <a:bodyPr/>
          <a:lstStyle/>
          <a:p>
            <a:pPr algn="l" fontAlgn="base" marL="0" marR="0" indent="0" lvl="0">
              <a:defRPr/>
            </a:pPr>
            <a:r>
              <a:rPr lang="en-US" dirty="0" b="true" i="false" strike="noStrike" sz="1600" u="none" cap="none">
                <a:solidFill>
                  <a:srgbClr val="000000">
                    <a:alpha val="100000"/>
                  </a:srgbClr>
                </a:solidFill>
                <a:latin typeface="Calibri"/>
              </a:rPr>
              <a:t>: Revenue Breakdown by Segment</a:t>
            </a:r>
            <a:endParaRPr lang="en-US" dirty="0"/>
          </a:p>
        </c:rich>
      </c:tx>
      <c:layout>
        <c:manualLayout>
          <c:xMode val="edge"/>
          <c:yMode val="edge"/>
          <c:x val="0.01"/>
          <c:y val="0.01"/>
        </c:manualLayout>
      </c:layout>
      <c:overlay val="0"/>
    </c:title>
    <c:autoTitleDeleted val="0"/>
    <c:view3D>
      <c:rotX val="0"/>
      <c:hPercent val="100"/>
      <c:rotY val="0"/>
      <c:depthPercent val="100"/>
      <c:rAngAx val="1"/>
      <c:perspective val="30"/>
    </c:view3D>
    <c:plotArea>
      <c:layout>
        <c:manualLayout>
          <c:xMode val="edge"/>
          <c:yMode val="edge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dPt>
            <c:idx val="0"/>
            <c:spPr>
              <a:solidFill>
                <a:srgbClr val="14B8A6">
                  <a:alpha val="100000"/>
                </a:srgbClr>
              </a:solidFill>
            </c:spPr>
          </c:dPt>
          <c:dPt>
            <c:idx val="1"/>
            <c:spPr>
              <a:solidFill>
                <a:srgbClr val="2563EB">
                  <a:alpha val="100000"/>
                </a:srgbClr>
              </a:solidFill>
            </c:spPr>
          </c:dPt>
          <c:dPt>
            <c:idx val="2"/>
            <c:spPr>
              <a:solidFill>
                <a:srgbClr val="F59E0B">
                  <a:alpha val="100000"/>
                </a:srgbClr>
              </a:solidFill>
            </c:spPr>
          </c:dPt>
          <c:dLbls>
            <c:txPr>
              <a:bodyPr/>
              <a:lstStyle/>
              <a:p>
                <a:pPr>
                  <a:defRPr b="false" i="false" strike="noStrike" sz="900" u="none">
                    <a:solidFill>
                      <a:srgbClr val="000000">
                        <a:alpha val="100000"/>
                      </a:srgbClr>
                    </a:solidFill>
                    <a:latin typeface="Calibri"/>
                    <a:ea typeface="Calibri"/>
                  </a:defRPr>
                </a:pPr>
                <a:endParaRPr lang="en-US" dirty="0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LeaderLines val="1"/>
          </c:dLbls>
          <c:cat>
            <c:strRef>
              <c:f>Sheet1!$A$2:$A$4</c:f>
              <c:strCache>
                <c:ptCount val="3"/>
                <c:pt idx="0">
                  <c:v>Core Products</c:v>
                </c:pt>
                <c:pt idx="1">
                  <c:v>Services</c:v>
                </c:pt>
                <c:pt idx="2">
                  <c:v>Emerging Markets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</c:ser>
      </c:pieChart>
    </c:plotArea>
    <c:legend>
      <c:legendPos val="r"/>
      <c:layout>
        <c:manualLayout>
          <c:xMode val="edge"/>
          <c:yMode val="edge"/>
        </c:manualLayout>
      </c:layout>
      <c:overlay val="0"/>
      <c:spPr>
        <a:noFill/>
        <a:ln w="9525" cap="flat" cmpd="sng" algn="ctr">
          <a:solidFill>
            <a:srgbClr val="000000">
              <a:alpha val="100000"/>
            </a:srgbClr>
          </a:solidFill>
          <a:prstDash val="solid"/>
          <a:round/>
          <a:headEnd type="none" w="med" len="med"/>
          <a:tailEnd type="none" w="med" len="med"/>
        </a:ln>
      </c:spPr>
      <c:txPr>
        <a:bodyPr/>
        <a:lstStyle/>
        <a:p>
          <a:pPr algn="l" fontAlgn="base" marL="0" marR="0" indent="0" lvl="0">
            <a:defRPr b="false" i="false" strike="noStrike" sz="1000" u="none">
              <a:solidFill>
                <a:srgbClr val="000000">
                  <a:alpha val="100000"/>
                </a:srgbClr>
              </a:solidFill>
              <a:latin typeface="Calibri"/>
            </a:defRPr>
          </a:pPr>
          <a:endParaRPr lang="en-US" dirty="0"/>
        </a:p>
      </c:txPr>
    </c:legend>
    <c:plotVisOnly val="1"/>
    <c:dispBlanksAs val="zero"/>
  </c:chart>
  <c:spPr>
    <a:noFill/>
  </c:spPr>
  <c:externalData r:id="rId1">
    <c:autoUpdate val="0"/>
  </c:externalData>
</c:chartSpace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7341887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chart" Target="../charts/chart1.xml"/>
</Relationships>
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8572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6667500" y="0"/>
            <a:ext cx="24765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429375" y="0"/>
            <a:ext cx="342900" cy="51435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71500" y="1381125"/>
            <a:ext cx="4762500" cy="5715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/>
          <p:cNvSpPr txBox="1"/>
          <p:nvPr/>
        </p:nvSpPr>
        <p:spPr>
          <a:xfrm>
            <a:off x="571500" y="1666875"/>
            <a:ext cx="5715000" cy="1714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3429000"/>
            <a:ext cx="53340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2200" spc="0" u="none" cap="none">
                <a:solidFill>
                  <a:srgbClr val="CCFBF1">
                    <a:alpha val="100000"/>
                  </a:srgbClr>
                </a:solidFill>
                <a:latin typeface="Calibri"/>
              </a:rPr>
              <a:t><![CDATA[Busines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571500" y="4381500"/>
            <a:ext cx="2381250" cy="381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400" spc="0" u="none" cap="none">
                <a:solidFill>
                  <a:srgbClr val="E2E8F0">
                    <a:alpha val="100000"/>
                  </a:srgbClr>
                </a:solidFill>
                <a:latin typeface="Calibri"/>
              </a:rPr>
              <a:t><![CDATA[May 9, 2026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1D4ED8">
                    <a:alpha val="100000"/>
                  </a:srgbClr>
                </a:solidFill>
                <a:latin typeface="Calibri"/>
              </a:rPr>
              <a:t><![CDATA[Slide 1: Title Slid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uarterly Business Re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esented by: Kwati AI Tea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Date: May 9, 2026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elcome to our Q2 2026 Quarterly Business Review. This presentation highlights key performance metrics, achievements, challenges, and forward-looking strategies to drive continued growth.]]>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000" spc="0" u="none" cap="none">
                <a:solidFill>
                  <a:srgbClr val="334155">
                    <a:alpha val="100000"/>
                  </a:srgbClr>
                </a:solidFill>
                <a:latin typeface="Calibri"/>
              </a:rPr>
              <a:t><![CDATA[Slide 2: Agend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ecutive Summary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Financial Performanc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Metrics Overview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Highligh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Analysis]]>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hallenges and Risk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ategic Outlook and Q&A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is agenda outlines the structure of today's review, ensuring a comprehensive discussion of our business trajectory.]]>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3: Executive Summary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hieved 12% YoY revenue growth, exceeding targets by 3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ong performance in core markets with expanded customer bas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 efficiencies reduced costs by 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ooking ahead: Focus on innovation and market expans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In Q2, we demonstrated resilience and strategic execution amid economic uncertainties. Overall, the quarter positions us well for sustained momentum.]]>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4: Financial Performance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venue: $5.2M (up 12% from Q1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t Profit: $1.1M (margin of 21%)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xpenses: Controlled at $4.1M, with R&D investments prioritized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ash Flow: Positive $800K, supporting future initiative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ur financials reflect disciplined management and revenue diversification. Key drivers include higher sales volumes and optimized supply chain costs.]]>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Bar Chart: Revenue by Quarter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1 2026: 4.65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2 2026: 5.2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3 2025: 4.4M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Q4 2025: 4.8M]]>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5: Key Metrics Overview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ustomer Acquisition: 15% increase, totaling 2,500 new client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Retention Rate: 92%, above industry benchmark of 85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Product Usage: Average 25% uplift in daily active us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fficiency Ratio: Improved to 65% from 70% last quarter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se metrics underscore our focus on customer-centric growth and operational excellence, directly contributing to bottom-line results.]]>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Pie Chart: Revenue Breakdown by Segment]]></a:t>
            </a:r>
          </a:p>
        </p:txBody>
      </p:sp>
      <p:sp>
        <p:nvSpPr>
          <p:cNvPr id="8" name="" descr=""/>
          <p:cNvSpPr/>
          <p:nvPr/>
        </p:nvSpPr>
        <p:spPr>
          <a:xfrm>
            <a:off x="914400" y="1314450"/>
            <a:ext cx="7315200" cy="31432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9" name="" descr=""/>
          <p:cNvSpPr/>
          <p:nvPr/>
        </p:nvSpPr>
        <p:spPr>
          <a:xfrm>
            <a:off x="914400" y="1314450"/>
            <a:ext cx="7315200" cy="952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graphicFrame>
        <p:nvGraphicFramePr>
          <p:cNvPr id="10" name="Pie Chart: Revenue Breakdown by Segment" descr=""/>
          <p:cNvGraphicFramePr/>
          <p:nvPr/>
        </p:nvGraphicFramePr>
        <p:xfrm>
          <a:off x="1143000" y="1524000"/>
          <a:ext cx="6858000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1" name=""/>
          <p:cNvSpPr txBox="1"/>
          <p:nvPr/>
        </p:nvSpPr>
        <p:spPr>
          <a:xfrm>
            <a:off x="1143000" y="4629150"/>
            <a:ext cx="3429000" cy="333375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200" spc="0" u="none" cap="none">
                <a:solidFill>
                  <a:srgbClr val="64748B">
                    <a:alpha val="100000"/>
                  </a:srgbClr>
                </a:solidFill>
                <a:latin typeface="Calibri"/>
              </a:rPr>
              <a:t><![CDATA[Share of total]]>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6: Operational Highlight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Launched two new product features, boosting user engagement by 18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treamlined supply chain, reducing delivery times by 20%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eam expansion: Added 15 specialists in sales and tech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stainability: Achieved 10% reduction in carbon footprint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rationally, Q2 marked significant advancements in innovation and efficiency, aligning with our long-term goals for scalable growth.]]>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8572500" cy="5143500"/>
          <a:chOff x="0" y="0"/>
          <a:chExt cx="85725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2714625" y="0"/>
            <a:ext cx="266700" cy="514350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3238500" y="1238250"/>
            <a:ext cx="5048250" cy="33337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514350" y="857250"/>
            <a:ext cx="1428750" cy="762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42950" y="4000500"/>
            <a:ext cx="1238250" cy="40005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3143250" y="400050"/>
            <a:ext cx="542925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30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7: Market Analysis and Strategic Outlook]]></a:t>
            </a:r>
          </a:p>
        </p:txBody>
      </p:sp>
      <p:sp>
        <p:nvSpPr>
          <p:cNvPr id="8" name=""/>
          <p:cNvSpPr txBox="1"/>
          <p:nvPr/>
        </p:nvSpPr>
        <p:spPr>
          <a:xfrm>
            <a:off x="3238500" y="1428750"/>
            <a:ext cx="4953000" cy="31432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Market Trends: Growing demand in digital transformation secto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mpetitive Landscape: Maintained 25% market share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portunities: Expansion into Asia-Pacific reg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Next Steps: Invest $500K in R&D; target 15% growth in Q3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e market remains dynamic, with opportunities for us to capitalize on emerging trends. Our strategy emphasizes agility and proactive investment.]]>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3048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0" y="4838700"/>
            <a:ext cx="9144000" cy="3048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66750" y="1123950"/>
            <a:ext cx="7810500" cy="3238500"/>
          </a:xfrm>
          <a:prstGeom prst="rect">
            <a:avLst/>
          </a:prstGeom>
          <a:solidFill>
            <a:srgbClr val="EFF6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123950"/>
            <a:ext cx="7810500" cy="762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111827">
                    <a:alpha val="100000"/>
                  </a:srgbClr>
                </a:solidFill>
                <a:latin typeface="Calibri"/>
              </a:rPr>
              <a:t><![CDATA[Slide 8: Challenges and Risks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Supply Chain Disruptions: Mitigated through diversified supplier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Economic Volatility: Hedged with flexible budget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alent Retention: Enhanced programs to maintain 95% retention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Action Plan: Quarterly risk assessments and contingency planning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While challenges persist, our proactive measures ensure minimal impact on performance.]]>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0"/>
            <a:ext cx="9144000" cy="876300"/>
          </a:xfrm>
          <a:prstGeom prst="rect">
            <a:avLst/>
          </a:prstGeom>
          <a:solidFill>
            <a:srgbClr val="2563EB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66750" y="1314450"/>
            <a:ext cx="7810500" cy="3219450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7000875" y="0"/>
            <a:ext cx="2143125" cy="5143500"/>
          </a:xfrm>
          <a:prstGeom prst="rect">
            <a:avLst/>
          </a:prstGeom>
          <a:solidFill>
            <a:srgbClr val="334155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666750" y="1314450"/>
            <a:ext cx="76200" cy="3219450"/>
          </a:xfrm>
          <a:prstGeom prst="rect">
            <a:avLst/>
          </a:prstGeom>
          <a:solidFill>
            <a:srgbClr val="14B8A6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Slide 9: Q&A and Thank You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Open floor for qu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Key Takeaway: Strong Q2 sets foundation for ambitious Q3 goal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Contact: business@kwatia.com for follow-up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Thank you for your attention. We're excited about the path ahead and welcome your insights.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kwati-suggestions]]></a:t>
            </a:r>
          </a:p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>
                  <a:alpha val="100000"/>
                </a:srgbClr>
              </a:buClr>
              <a:buFont typeface="Calibri"/>
              <a:buChar char="-"/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["Can you generate this as a PowerPoint presentation?", "Would you like to add specific data or customize any slides?", "How about a PDF version of this content?"]]]>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9144000" cy="4743450"/>
          <a:chOff x="0" y="0"/>
          <a:chExt cx="9144000" cy="4743450"/>
        </a:xfrm>
      </p:grpSpPr>
      <p:sp>
        <p:nvSpPr>
          <p:cNvPr id="2" name="" descr=""/>
          <p:cNvSpPr/>
          <p:nvPr/>
        </p:nvSpPr>
        <p:spPr>
          <a:xfrm>
            <a:off x="0" y="0"/>
            <a:ext cx="9144000" cy="72390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3" name="" descr=""/>
          <p:cNvSpPr/>
          <p:nvPr/>
        </p:nvSpPr>
        <p:spPr>
          <a:xfrm>
            <a:off x="0" y="723900"/>
            <a:ext cx="9144000" cy="76200"/>
          </a:xfrm>
          <a:prstGeom prst="rect">
            <a:avLst/>
          </a:prstGeom>
          <a:solidFill>
            <a:srgbClr val="38BDF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4" name="" descr=""/>
          <p:cNvSpPr/>
          <p:nvPr/>
        </p:nvSpPr>
        <p:spPr>
          <a:xfrm>
            <a:off x="609600" y="1190625"/>
            <a:ext cx="7924800" cy="3381375"/>
          </a:xfrm>
          <a:prstGeom prst="rect">
            <a:avLst/>
          </a:pr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5" name="" descr=""/>
          <p:cNvSpPr/>
          <p:nvPr/>
        </p:nvSpPr>
        <p:spPr>
          <a:xfrm>
            <a:off x="609600" y="1190625"/>
            <a:ext cx="95250" cy="3381375"/>
          </a:xfrm>
          <a:prstGeom prst="rect">
            <a:avLst/>
          </a:prstGeom>
          <a:solidFill>
            <a:srgbClr val="0F172A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6" name="" descr=""/>
          <p:cNvSpPr/>
          <p:nvPr/>
        </p:nvSpPr>
        <p:spPr>
          <a:xfrm>
            <a:off x="7810500" y="4686300"/>
            <a:ext cx="723900" cy="57150"/>
          </a:xfrm>
          <a:prstGeom prst="rect">
            <a:avLst/>
          </a:prstGeom>
          <a:solidFill>
            <a:srgbClr val="1D4ED8">
              <a:alpha val="100000"/>
            </a:srgbClr>
          </a:solidFill>
          <a:ln w="9525">
            <a:noFill/>
          </a:ln>
        </p:spPr>
        <p:txBody>
          <a:bodyPr vertOverflow="clip" rtlCol="0" anchor="ctr"/>
          <a:lstStyle/>
          <a:p>
            <a:pPr algn="ctr"/>
            <a:r>
              <a:t/>
            </a:r>
          </a:p>
        </p:txBody>
      </p:sp>
      <p:sp>
        <p:nvSpPr>
          <p:cNvPr id="7" name=""/>
          <p:cNvSpPr txBox="1"/>
          <p:nvPr/>
        </p:nvSpPr>
        <p:spPr>
          <a:xfrm>
            <a:off x="571500" y="190500"/>
            <a:ext cx="7810500" cy="66675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2600" spc="0" u="none" cap="none">
                <a:solidFill>
                  <a:srgbClr val="FFFFFF">
                    <a:alpha val="100000"/>
                  </a:srgbClr>
                </a:solidFill>
                <a:latin typeface="Calibri"/>
              </a:rPr>
              <a:t><![CDATA[Continued]]></a:t>
            </a:r>
          </a:p>
        </p:txBody>
      </p:sp>
      <p:sp>
        <p:nvSpPr>
          <p:cNvPr id="8" name=""/>
          <p:cNvSpPr txBox="1"/>
          <p:nvPr/>
        </p:nvSpPr>
        <p:spPr>
          <a:xfrm>
            <a:off x="1000125" y="1476375"/>
            <a:ext cx="7239000" cy="30480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normAutofit/>
          </a:bodyPr>
          <a:lstStyle/>
          <a:p>
            <a:pPr algn="l" rtl="0" fontAlgn="base" marL="209550" marR="0" indent="-13335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trike="noStrike" sz="1800" spc="0" u="none" cap="none">
                <a:solidFill>
                  <a:srgbClr val="1F2937">
                    <a:alpha val="100000"/>
                  </a:srgbClr>
                </a:solidFill>
                <a:latin typeface="Calibri"/>
              </a:rPr>
              <a:t><![CDATA[`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42">
  <a:themeElements>
    <a:clrScheme name="Theme4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42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4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14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KWati AI</dc:creator>
  <cp:lastModifiedBy>Unknown Creator</cp:lastModifiedBy>
  <dcterms:created xsi:type="dcterms:W3CDTF">2026-05-09T11:20:14Z</dcterms:created>
  <dcterms:modified xsi:type="dcterms:W3CDTF">2026-05-09T11:20:14Z</dcterms:modified>
  <dc:title>Quarterly business review</dc:title>
  <dc:description/>
  <dc:subject>business</dc:subject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