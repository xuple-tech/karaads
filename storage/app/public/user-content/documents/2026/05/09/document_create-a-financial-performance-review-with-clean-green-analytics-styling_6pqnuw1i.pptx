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ml.xlsx"/>
</Relationships>
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by Source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Sheet1!$A$2:$A$4</c:f>
              <c:strCache>
                <c:ptCount val="3"/>
                <c:pt idx="0">
                  <c:v>Product Sales</c:v>
                </c:pt>
                <c:pt idx="1">
                  <c:v>Service Revenue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3800000</c:v>
                </c:pt>
                <c:pt idx="1">
                  <c:v>1200000</c:v>
                </c:pt>
                <c:pt idx="2">
                  <c:v>200000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Continued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Sheet1!$A$2:$A$6</c:f>
              <c:strCache>
                <c:ptCount val="5"/>
                <c:pt idx="0">
                  <c:v>Cost of Goods Sold</c:v>
                </c:pt>
                <c:pt idx="1">
                  <c:v>Operating Expenses</c:v>
                </c:pt>
                <c:pt idx="2">
                  <c:v>Marketing &amp; Sales</c:v>
                </c:pt>
                <c:pt idx="3">
                  <c:v>Administrative</c:v>
                </c:pt>
                <c:pt idx="4">
                  <c:v>R&amp;D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35</c:v>
                </c:pt>
                <c:pt idx="2">
                  <c:v>12</c:v>
                </c:pt>
                <c:pt idx="3">
                  <c:v>9</c:v>
                </c:pt>
                <c:pt idx="4">
                  <c:v>4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Continued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Sheet1!$A$2:$A$6</c:f>
              <c:strCache>
                <c:ptCount val="5"/>
                <c:pt idx="0">
                  <c:v>Gross Margin Q1 2026</c:v>
                </c:pt>
                <c:pt idx="1">
                  <c:v>Operating Margin Q1 2026</c:v>
                </c:pt>
                <c:pt idx="2">
                  <c:v>Net Margin Q1 2026</c:v>
                </c:pt>
                <c:pt idx="3">
                  <c:v>Gross Margin Q1 2025</c:v>
                </c:pt>
                <c:pt idx="4">
                  <c:v>Operating Margin Q1 2025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60</c:v>
                </c:pt>
                <c:pt idx="1">
                  <c:v>19</c:v>
                </c:pt>
                <c:pt idx="2">
                  <c:v>14</c:v>
                </c:pt>
                <c:pt idx="3">
                  <c:v>58</c:v>
                </c:pt>
                <c:pt idx="4">
                  <c:v>17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038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4532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16653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eate a financial performance review with clean green analytics stylin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4532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16653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532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erformance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4532D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Finance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lean green analytics styling emphasizes sustainability and growth in our financial narrati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E3A2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1580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E3A2E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Financial Metr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 Breakdow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ability Insight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9284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ture Outlook and Recommend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tructured agenda ensures a focused review of our financial health, highlighting actionable insight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12% year-over-year revenu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intained positive EBITDA margins at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 efficiencies reduced operational expenses by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liquidity position with cash reserves up 1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all, Q1 results demonstrate resilient performance amid market challenges, positioning us for sustained growth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Financial Metric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5.2M (up from $4.6M in Q1 2025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Income: $750K (margin: 14.4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BITDA: $936K (margin: 18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 from Operations: $1.1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reflect operational excellence and strategic investments in core area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4532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16653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Revenue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Sales: $3.8M (73% of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ce Revenue: $1.2M (23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ther Income: $200K (4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streams show diversification, with product sales driving the majority of growth through expanded market reach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E3A2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4FA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1580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F241A">
                    <a:alpha val="100000"/>
                  </a:srgbClr>
                </a:solidFill>
                <a:latin typeface="Calibri"/>
              </a:rPr>
              <a:t><![CDATA[Bar Chart: Revenue by Source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Bar Chart: Revenue by Source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Expense Breakdow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 of Goods Sold: $2.1M (40% of revenu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ng Expenses: $1.8M (35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ing & Sales: $650K (12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ministrative: $450K (9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&D: $200K (4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 management remains disciplined, with targeted reductions in non-essential areas to bolster margin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B2C4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Continued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63F68">
                    <a:alpha val="100000"/>
                  </a:srgbClr>
                </a:solidFill>
                <a:latin typeface="Calibri"/>
              </a:rPr>
              <a:t><![CDATA[Slide 7: Profitability Ins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ss Profit: $3.1M (60% margin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ng Profit: $1.0M (19% margin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$750K (14% margin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on Key Investments: 22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ability trends indicate efficient resource allocation, with opportunities to further optimize supply chain costs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4532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2F8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16653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52E16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Continued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1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580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E3A2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Margin Q1 2025: 12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Future Outlook and Recommenda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Q2 Revenue: $5.8M (12% growth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 Areas: Enhance digital sales channels and sustainability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commendations: Allocate $500K to R&D for green tech; monitor inflation impac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y leveraging these insights, we can drive 15% annual growth while maintaining financial st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with clean green analytics styling?", "Would you like to add more slides on risk analysis?", "How about a PDF version of the presentation?"]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0">
  <a:themeElements>
    <a:clrScheme name="Theme9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2026-05-09T19:15:16Z</dcterms:created>
  <dcterms:modified xsi:type="dcterms:W3CDTF">2026-05-09T19:15:16Z</dcterms:modified>
  <dc:title>Create a financial performance review with clean green analytics styling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