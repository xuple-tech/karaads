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presProps" Target="presProps.xml"/>
  <Relationship Id="rId13" Type="http://schemas.openxmlformats.org/officeDocument/2006/relationships/viewProps" Target="viewProps.xml"/>
  <Relationship Id="rId14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69416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952500" y="1047750"/>
            <a:ext cx="7239000" cy="1047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8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QUARTERLY BUSINESS REVIEW]]></a:t>
            </a:r>
          </a:p>
        </p:txBody>
      </p:sp>
      <p:sp>
        <p:nvSpPr>
          <p:cNvPr id="10" name=""/>
          <p:cNvSpPr txBox="1"/>
          <p:nvPr/>
        </p:nvSpPr>
        <p:spPr>
          <a:xfrm>
            <a:off x="2095500" y="2076450"/>
            <a:ext cx="4953000" cy="3429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5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11" name="" descr=""/>
          <p:cNvSpPr/>
          <p:nvPr/>
        </p:nvSpPr>
        <p:spPr>
          <a:xfrm>
            <a:off x="1238250" y="2714625"/>
            <a:ext cx="1504950" cy="16192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2" name=""/>
          <p:cNvSpPr txBox="1"/>
          <p:nvPr/>
        </p:nvSpPr>
        <p:spPr>
          <a:xfrm>
            <a:off x="17526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14668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ocus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914650" y="2714625"/>
            <a:ext cx="1504950" cy="161925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4290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31432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arrative]]></a:t>
            </a:r>
          </a:p>
        </p:txBody>
      </p:sp>
      <p:sp>
        <p:nvSpPr>
          <p:cNvPr id="17" name="" descr=""/>
          <p:cNvSpPr/>
          <p:nvPr/>
        </p:nvSpPr>
        <p:spPr>
          <a:xfrm>
            <a:off x="4591050" y="2714625"/>
            <a:ext cx="1504950" cy="161925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8" name=""/>
          <p:cNvSpPr txBox="1"/>
          <p:nvPr/>
        </p:nvSpPr>
        <p:spPr>
          <a:xfrm>
            <a:off x="51054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19" name=""/>
          <p:cNvSpPr txBox="1"/>
          <p:nvPr/>
        </p:nvSpPr>
        <p:spPr>
          <a:xfrm>
            <a:off x="48196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Proof]]></a:t>
            </a:r>
          </a:p>
        </p:txBody>
      </p:sp>
      <p:sp>
        <p:nvSpPr>
          <p:cNvPr id="20" name="" descr=""/>
          <p:cNvSpPr/>
          <p:nvPr/>
        </p:nvSpPr>
        <p:spPr>
          <a:xfrm>
            <a:off x="6267450" y="2714625"/>
            <a:ext cx="1504950" cy="16192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1" name=""/>
          <p:cNvSpPr txBox="1"/>
          <p:nvPr/>
        </p:nvSpPr>
        <p:spPr>
          <a:xfrm>
            <a:off x="6781800" y="3000375"/>
            <a:ext cx="4762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4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2" name=""/>
          <p:cNvSpPr txBox="1"/>
          <p:nvPr/>
        </p:nvSpPr>
        <p:spPr>
          <a:xfrm>
            <a:off x="6496050" y="3448050"/>
            <a:ext cx="1047750" cy="3048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7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ction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QUARTERLY BUSINESS REVIEW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lide 1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lide 1: Agenda
Overview of Q1 Performance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Key Financial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Key Financial Metrics
Market and Competitive Analysi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perational Highli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perational Highlights
Challenges and Risks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CONTINUED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trategic Initiati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trategic Initiatives and Outlook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Q&A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Q&A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Slid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slide outlines the structure of today's review to ensure we cover all critical areas efficiently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2: Q1 PERFORMANCE OVERVIEW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Revenue Growth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Revenue Growth: 12% YoY, exceeding targets by 3%
EBITDA Margin: Improved to 18% from 15% last quarter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ustomer Acquisiti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ustomer Acquisition: Added 5,000 new users, up 20%
Overall KPI Achievement: 92% on plan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Q1 Demonstrated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Q1 demonstrated strong momentum across core business units, driven by successful product launches and expanded market reach. This positions us well for sustained growth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3: FINANCIAL HIGHLIGHT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otal Revenue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otal Revenue: $4.2M
Net Profit: $750K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perating Expenses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perating Expenses: Controlled at $2.8M, 5% below budget
Cash Flow: Positive $1.1M, supporting reinvestment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ancial Results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ancial results reflect disciplined cost management and revenue diversification. Detailed breakdowns are available in the appendix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4: BAR CHART - REVENUE BY REGION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North America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North America: 2,500,000
Europe: 1,200,000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Asia-Pacific: 500,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Asia-Pacific: 500,000
Other: 0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is Bar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is bar chart illustrates revenue distribution, highlighting North America's dominance while showing growth potential in emerging market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5: MARKET AND COMPETITIVE LANDSCAPE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Market Share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Market Share: Increased to 22% in core segment
Competitor Activity: Two major entrants; our differentiation in AI features maintains edge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rends: Rising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rends: Rising demand for sustainable solutions, aligning with our ESG commitments
Opportunities: Partnerships in untapped region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The Competitive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The competitive environment remains dynamic, but our innovative positioning and customer loyalty provide a solid foundation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6: OPERATIONAL HIGHLIGHTS AND CHALLENGE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Supply Chain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Supply Chain Efficiency: Reduced lead times by 15%
Team Milestones: 95% employee retention; new hires in R&D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Challenges: Inflat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Challenges: Inflation impacts on raw materials (up 8%); mitigated through hedging
Risk Mitigation: Enhanced cybersecurity protocols post recent industry breache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Operations Scaled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Operations scaled effectively, though external pressures require ongoing vigilance to protect margins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1143000" y="133350"/>
            <a:ext cx="2857500" cy="1905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5143500" y="133350"/>
            <a:ext cx="2857500" cy="1905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4476750" y="85725"/>
            <a:ext cx="76200" cy="76200"/>
          </a:xfrm>
          <a:prstGeom prst="ellipse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4667250" y="85725"/>
            <a:ext cx="76200" cy="76200"/>
          </a:xfrm>
          <a:prstGeom prst="ellipse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 descr=""/>
          <p:cNvSpPr/>
          <p:nvPr/>
        </p:nvSpPr>
        <p:spPr>
          <a:xfrm>
            <a:off x="4857750" y="85725"/>
            <a:ext cx="76200" cy="76200"/>
          </a:xfrm>
          <a:prstGeom prst="ellipse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8" name="" descr=""/>
          <p:cNvSpPr/>
          <p:nvPr/>
        </p:nvSpPr>
        <p:spPr>
          <a:xfrm>
            <a:off x="5048250" y="85725"/>
            <a:ext cx="76200" cy="76200"/>
          </a:xfrm>
          <a:prstGeom prst="ellipse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/>
          <p:cNvSpPr txBox="1"/>
          <p:nvPr/>
        </p:nvSpPr>
        <p:spPr>
          <a:xfrm>
            <a:off x="666750" y="400050"/>
            <a:ext cx="7810500" cy="4572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400" spc="0" u="none" cap="none">
                <a:solidFill>
                  <a:srgbClr val="1F2937">
                    <a:alpha val="100000"/>
                  </a:srgbClr>
                </a:solidFill>
                <a:latin typeface="Times New Roman"/>
              </a:rPr>
              <a:t><![CDATA[SLIDE 7: STRATEGIC OUTLOOK AND NEXT STEPS]]></a:t>
            </a:r>
          </a:p>
        </p:txBody>
      </p:sp>
      <p:sp>
        <p:nvSpPr>
          <p:cNvPr id="10" name="" descr=""/>
          <p:cNvSpPr/>
          <p:nvPr/>
        </p:nvSpPr>
        <p:spPr>
          <a:xfrm>
            <a:off x="0" y="1066800"/>
            <a:ext cx="2286000" cy="3429000"/>
          </a:xfrm>
          <a:prstGeom prst="rect">
            <a:avLst/>
          </a:prstGeom>
          <a:solidFill>
            <a:srgbClr val="7F59A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1" name=""/>
          <p:cNvSpPr txBox="1"/>
          <p:nvPr/>
        </p:nvSpPr>
        <p:spPr>
          <a:xfrm>
            <a:off x="857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★]]></a:t>
            </a:r>
          </a:p>
        </p:txBody>
      </p:sp>
      <p:sp>
        <p:nvSpPr>
          <p:cNvPr id="12" name=""/>
          <p:cNvSpPr txBox="1"/>
          <p:nvPr/>
        </p:nvSpPr>
        <p:spPr>
          <a:xfrm>
            <a:off x="285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Q2 Goals:]]></a:t>
            </a:r>
          </a:p>
        </p:txBody>
      </p:sp>
      <p:sp>
        <p:nvSpPr>
          <p:cNvPr id="13" name=""/>
          <p:cNvSpPr txBox="1"/>
          <p:nvPr/>
        </p:nvSpPr>
        <p:spPr>
          <a:xfrm>
            <a:off x="285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Q2 Goals: Target 15% revenue growth; launch beta product
Investments: $500K in digital transformation]]></a:t>
            </a:r>
          </a:p>
        </p:txBody>
      </p:sp>
      <p:sp>
        <p:nvSpPr>
          <p:cNvPr id="14" name="" descr=""/>
          <p:cNvSpPr/>
          <p:nvPr/>
        </p:nvSpPr>
        <p:spPr>
          <a:xfrm>
            <a:off x="2286000" y="1066800"/>
            <a:ext cx="2286000" cy="3429000"/>
          </a:xfrm>
          <a:prstGeom prst="rect">
            <a:avLst/>
          </a:prstGeom>
          <a:solidFill>
            <a:srgbClr val="60C4E4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5" name=""/>
          <p:cNvSpPr txBox="1"/>
          <p:nvPr/>
        </p:nvSpPr>
        <p:spPr>
          <a:xfrm>
            <a:off x="3143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☾]]></a:t>
            </a:r>
          </a:p>
        </p:txBody>
      </p:sp>
      <p:sp>
        <p:nvSpPr>
          <p:cNvPr id="16" name=""/>
          <p:cNvSpPr txBox="1"/>
          <p:nvPr/>
        </p:nvSpPr>
        <p:spPr>
          <a:xfrm>
            <a:off x="2571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Long-Term Vision:]]></a:t>
            </a:r>
          </a:p>
        </p:txBody>
      </p:sp>
      <p:sp>
        <p:nvSpPr>
          <p:cNvPr id="17" name=""/>
          <p:cNvSpPr txBox="1"/>
          <p:nvPr/>
        </p:nvSpPr>
        <p:spPr>
          <a:xfrm>
            <a:off x="2571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Long-Term Vision: Expand to 30% market share by year-end
Call to Action: Approve budget for key initiatives]]></a:t>
            </a:r>
          </a:p>
        </p:txBody>
      </p:sp>
      <p:sp>
        <p:nvSpPr>
          <p:cNvPr id="18" name="" descr=""/>
          <p:cNvSpPr/>
          <p:nvPr/>
        </p:nvSpPr>
        <p:spPr>
          <a:xfrm>
            <a:off x="4572000" y="1066800"/>
            <a:ext cx="2286000" cy="3429000"/>
          </a:xfrm>
          <a:prstGeom prst="rect">
            <a:avLst/>
          </a:prstGeom>
          <a:solidFill>
            <a:srgbClr val="E54B8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19" name=""/>
          <p:cNvSpPr txBox="1"/>
          <p:nvPr/>
        </p:nvSpPr>
        <p:spPr>
          <a:xfrm>
            <a:off x="5429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✹]]></a:t>
            </a:r>
          </a:p>
        </p:txBody>
      </p:sp>
      <p:sp>
        <p:nvSpPr>
          <p:cNvPr id="20" name=""/>
          <p:cNvSpPr txBox="1"/>
          <p:nvPr/>
        </p:nvSpPr>
        <p:spPr>
          <a:xfrm>
            <a:off x="4857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Looking Ahead,]]></a:t>
            </a:r>
          </a:p>
        </p:txBody>
      </p:sp>
      <p:sp>
        <p:nvSpPr>
          <p:cNvPr id="21" name=""/>
          <p:cNvSpPr txBox="1"/>
          <p:nvPr/>
        </p:nvSpPr>
        <p:spPr>
          <a:xfrm>
            <a:off x="4857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Looking ahead, these strategies will drive accelerated growth. Feedback and alignment on priorities are welcomed.]]></a:t>
            </a:r>
          </a:p>
        </p:txBody>
      </p:sp>
      <p:sp>
        <p:nvSpPr>
          <p:cNvPr id="22" name="" descr=""/>
          <p:cNvSpPr/>
          <p:nvPr/>
        </p:nvSpPr>
        <p:spPr>
          <a:xfrm>
            <a:off x="6858000" y="1066800"/>
            <a:ext cx="2286000" cy="3429000"/>
          </a:xfrm>
          <a:prstGeom prst="rect">
            <a:avLst/>
          </a:prstGeom>
          <a:solidFill>
            <a:srgbClr val="F8B621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23" name=""/>
          <p:cNvSpPr txBox="1"/>
          <p:nvPr/>
        </p:nvSpPr>
        <p:spPr>
          <a:xfrm>
            <a:off x="7715250" y="1409700"/>
            <a:ext cx="571500" cy="3238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☁]]></a:t>
            </a:r>
          </a:p>
        </p:txBody>
      </p:sp>
      <p:sp>
        <p:nvSpPr>
          <p:cNvPr id="24" name=""/>
          <p:cNvSpPr txBox="1"/>
          <p:nvPr/>
        </p:nvSpPr>
        <p:spPr>
          <a:xfrm>
            <a:off x="7143750" y="1866900"/>
            <a:ext cx="1714500" cy="4000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1800" spc="0" u="none" cap="none">
                <a:solidFill>
                  <a:srgbClr val="FFFFFF">
                    <a:alpha val="100000"/>
                  </a:srgbClr>
                </a:solidFill>
                <a:latin typeface="Times New Roman"/>
              </a:rPr>
              <a:t><![CDATA[Finish With]]></a:t>
            </a:r>
          </a:p>
        </p:txBody>
      </p:sp>
      <p:sp>
        <p:nvSpPr>
          <p:cNvPr id="25" name=""/>
          <p:cNvSpPr txBox="1"/>
          <p:nvPr/>
        </p:nvSpPr>
        <p:spPr>
          <a:xfrm>
            <a:off x="7143750" y="2400300"/>
            <a:ext cx="17145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ctr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102A43">
                    <a:alpha val="100000"/>
                  </a:srgbClr>
                </a:solidFill>
                <a:latin typeface="Calibri"/>
              </a:rPr>
              <a:t><![CDATA[Finish with the decision or next move.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7">
  <a:themeElements>
    <a:clrScheme name="Theme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7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9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2026-05-09T18:59:03Z</dcterms:created>
  <dcterms:modified xsi:type="dcterms:W3CDTF">2026-05-09T18:59:03Z</dcterms:modified>
  <dc:title>Quarterly business review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