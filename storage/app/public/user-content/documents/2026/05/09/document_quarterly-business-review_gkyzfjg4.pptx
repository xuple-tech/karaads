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Breakdown by Segment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Core Products</c:v>
                </c:pt>
                <c:pt idx="1">
                  <c:v>Services</c:v>
                </c:pt>
                <c:pt idx="2">
                  <c:v>Emerging Markets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66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Q2 2026 Quarterly Business Review. This presentation highlights key performance metrics, achievements, challenges, and forward-looking strategies to drive continued growth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etrics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Highl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and Ris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Outlook and 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genda outlines the structure of today's review, ensuring a comprehensive discussion of our business trajector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hieved 12% YoY revenue growth, exceeding targets by 3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performance in core markets with expanded customer bas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efficiencies reduced costs by 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oking ahead: Focus on innovation and market expan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 Q2, we demonstrated resilience and strategic execution amid economic uncertainties. Overall, the quarter positions us well for sustained momentum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5.2M (up 12% from Q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: $1.1M (margin of 21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Controlled at $4.1M, with R&D investments prioritiz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: Positive $800K, supporting future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financials reflect disciplined management and revenue diversification. Key drivers include higher sales volumes and optimized supply chain cost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ar Chart: Revenue by Quarter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4.6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5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5: 4.4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5: 4.8M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5: Key Metrics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: 15% increase, totaling 2,500 new cli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tention Rate: 92%, above industry benchmark of 8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Usage: Average 25% uplift in daily active us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fficiency Ratio: Improved to 65% from 70% last quarte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underscore our focus on customer-centric growth and operational excellence, directly contributing to bottom-line result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e Chart: Revenue Breakdown by Segment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Pie Chart: Revenue Breakdown by Segment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Operational Highligh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ed two new product features, boosting user engagement by 1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amlined supply chain, reducing delivery times by 2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expansion: Added 15 specialists in sales and te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stainability: Achieved 10% reduction in carbon footpri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ly, Q2 marked significant advancements in innovation and efficiency, aligning with our long-term goals for scalable growth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Market Analysis and Strategic Outlook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Trends: Growing demand in digital transformation sec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 Maintained 25% market sh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xpansion into Asia-Pacific reg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Invest $500K in R&D; target 15% growth in Q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 market remains dynamic, with opportunities for us to capitalize on emerging trends. Our strategy emphasizes agility and proactive investment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8: Challenges and Risk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isruptions: Mitigated through diversified suppli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nomic Volatility: Hedged with flexible budg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lent Retention: Enhanced programs to maintain 95% reten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tion Plan: Quarterly risk assessments and contingency plan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hile challenges persist, our proactive measures ensure minimal impact on performance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Q&A and Thank You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n floor for qu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akeaway: Strong Q2 sets foundation for ambitious Q3 goa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business@kwatia.com for follow-u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We're excited about the path ahead and welcome your insigh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presentation?", "Would you like to add specific data or customize any slides?", "How about a PDF version of this content?"]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7">
  <a:themeElements>
    <a:clrScheme name="Theme5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2026-05-09T11:16:27Z</dcterms:created>
  <dcterms:modified xsi:type="dcterms:W3CDTF">2026-05-09T11:16:27Z</dcterms:modified>
  <dc:title>Quarterly business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