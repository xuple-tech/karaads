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presProps" Target="presProps.xml"/>
  <Relationship Id="rId17" Type="http://schemas.openxmlformats.org/officeDocument/2006/relationships/viewProps" Target="viewProps.xml"/>
  <Relationship Id="rId18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: Revenue Breakdown by Segment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Sheet1!$A$2:$A$4</c:f>
              <c:strCache>
                <c:ptCount val="3"/>
                <c:pt idx="0">
                  <c:v>Product Sales</c:v>
                </c:pt>
                <c:pt idx="1">
                  <c:v>Services</c:v>
                </c:pt>
                <c:pt idx="2">
                  <c:v>Partnerships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6995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31623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32410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857500" y="0"/>
            <a:ext cx="17145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429000" y="0"/>
            <a:ext cx="5715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067300" y="3333750"/>
            <a:ext cx="2266950" cy="666750"/>
          </a:xfrm>
          <a:prstGeom prst="rect">
            <a:avLst/>
          </a:prstGeom>
          <a:solidFill>
            <a:srgbClr val="F4F7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257800" y="3619500"/>
            <a:ext cx="17145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3829050" y="952500"/>
            <a:ext cx="4095750" cy="9525"/>
          </a:xfrm>
          <a:prstGeom prst="rect">
            <a:avLst/>
          </a:prstGeom>
          <a:solidFill>
            <a:srgbClr val="E2E8F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419100" y="1562100"/>
            <a:ext cx="2171700" cy="1619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19100" y="333375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D8E5F3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19100" y="3619500"/>
            <a:ext cx="238125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E7EFF8">
                    <a:alpha val="100000"/>
                  </a:srgbClr>
                </a:solidFill>
                <a:latin typeface="Calibri"/>
              </a:rPr>
              <a:t><![CDATA[May 2026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257800" y="3467100"/>
            <a:ext cx="180975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Executive strategy update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lcome to our Q2 review, highlighting key achievements, challenges, and forward-looking strategies for sustained growth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23E6B">
                    <a:alpha val="100000"/>
                  </a:srgbClr>
                </a:solidFill>
                <a:latin typeface="Calibri"/>
              </a:rPr>
              <a:t><![CDATA[Slide 2: Agend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ecutive Summa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erforma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Metrics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and Operational Highligh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 and Risk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ic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&A and Next Ste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agenda outlines our discussion to provide a comprehensive view of the quarter's progress and future direction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Executive Summary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growth of 15% YoY, exceeding targets by 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ccessful product launch increased market share to 2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expanded by 20%, enhancing operational capacit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rward outlook: Projected 18% growth in Q3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all, Q2 demonstrated strong momentum, with strategic wins positioning us for accelerated expansion amid a competitive landscap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Financial Performanc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Revenue: $2.5M (up 15% from Q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t Profit Margin: 12% (improved from 10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ng Expenses: $1.8M (controlled at 72% of revenue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sh Flow: Positive $450K, supporting R&D invest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s reflect disciplined cost management and revenue diversification, ensuring liquidity for upcoming initiativ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Bar Chart: Revenue by Quarter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2026: 2.2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: 2.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Forecast: 2.9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Forecast: 3.2M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Key Metrics Overview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er Acquisition: 5,000 new users (target: 4,500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tention Rate: 85% (stable QoQ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es Conversion: 22% (up from 18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mployee Engagement: 92% satisfaction sco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metrics underscore our focus on customer-centric growth and internal excellence, driving long-term value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ie Chart: Revenue Breakdown by Segment]]></a:t>
            </a:r>
          </a:p>
        </p:txBody>
      </p:sp>
      <p:sp>
        <p:nvSpPr>
          <p:cNvPr id="9" name="" descr=""/>
          <p:cNvSpPr/>
          <p:nvPr/>
        </p:nvSpPr>
        <p:spPr>
          <a:xfrm>
            <a:off x="3143250" y="1295400"/>
            <a:ext cx="5143500" cy="32004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 descr=""/>
          <p:cNvSpPr/>
          <p:nvPr/>
        </p:nvSpPr>
        <p:spPr>
          <a:xfrm>
            <a:off x="3143250" y="1295400"/>
            <a:ext cx="5143500" cy="952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1" name="Pie Chart: Revenue Breakdown by Segment" descr=""/>
          <p:cNvGraphicFramePr/>
          <p:nvPr/>
        </p:nvGraphicFramePr>
        <p:xfrm>
          <a:off x="3333750" y="1524000"/>
          <a:ext cx="4762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"/>
          <p:cNvSpPr txBox="1"/>
          <p:nvPr/>
        </p:nvSpPr>
        <p:spPr>
          <a:xfrm>
            <a:off x="333375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hare of total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Slide 6: Market and Operational Highlight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anded into two new regions, boosting international sales by 3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eamlined supply chain, reducing delivery times by 2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novation milestone: Launched AI-enhanced feature suit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stainability effort: Achieved 25% reduction in carbon footpri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ly, we've capitalized on market opportunities while prioritizing efficiency and innovation to maintain competitive edge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Challenges and Risk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 disruptions impacted 10% of deliver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ing competitor activity in key marke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flation pressures on raw materials (up 8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tigation: Diversified suppliers and hedged cos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dressing these proactively ensures resilience; ongoing monitoring will guide adaptive strategies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8: Strategic Initiativ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Priority: Digital transformation project rollou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ment in talent: Hiring for tech and sales rol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ship expansion: Targeting 3 new allianc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oal: Achieve 20% market penetration by year-e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initiatives build on Q2 successes, focusing on scalable growth and innovation to outperform expectations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Slide 9: Next Steps and Q&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follow-up on Q3 targets by end of Ma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tion items: Review budget alloc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n floor for qu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attention. Let's discuss how we can drive even greater success together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8">
  <a:themeElements>
    <a:clrScheme name="Theme8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2026-05-09T19:08:04Z</dcterms:created>
  <dcterms:modified xsi:type="dcterms:W3CDTF">2026-05-09T19:08:04Z</dcterms:modified>
  <dc:title>Quarterly business review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