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presProps" Target="presProps.xml"/>
  <Relationship Id="rId18" Type="http://schemas.openxmlformats.org/officeDocument/2006/relationships/viewProps" Target="viewProps.xml"/>
  <Relationship Id="rId19" Type="http://schemas.openxmlformats.org/officeDocument/2006/relationships/tableStyles" Target="tableStyles.xml"/>
</Relationships>
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ml.xlsx"/>
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 algn="l" fontAlgn="base" marL="0" marR="0" indent="0" lvl="0">
              <a:defRPr/>
            </a:pPr>
            <a:r>
              <a:rPr lang="en-US" dirty="0" b="true" i="false" strike="noStrike" sz="160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Market Analysis</a:t>
            </a:r>
            <a:endParaRPr lang="en-US" dirty="0"/>
          </a:p>
        </c:rich>
      </c:tx>
      <c:layout>
        <c:manualLayout>
          <c:xMode val="edge"/>
          <c:yMode val="edge"/>
          <c:x val="0.01"/>
          <c:y val="0.01"/>
        </c:manualLayout>
      </c:layout>
      <c:overlay val="0"/>
    </c:title>
    <c:autoTitleDeleted val="0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14B8A6">
                  <a:alpha val="100000"/>
                </a:srgbClr>
              </a:solidFill>
            </c:spPr>
          </c:dPt>
          <c:dPt>
            <c:idx val="1"/>
            <c:spPr>
              <a:solidFill>
                <a:srgbClr val="2563EB">
                  <a:alpha val="100000"/>
                </a:srgbClr>
              </a:solidFill>
            </c:spPr>
          </c:dPt>
          <c:dPt>
            <c:idx val="2"/>
            <c:spPr>
              <a:solidFill>
                <a:srgbClr val="F59E0B">
                  <a:alpha val="100000"/>
                </a:srgbClr>
              </a:solidFill>
            </c:spPr>
          </c:dPt>
          <c:dPt>
            <c:idx val="3"/>
            <c:spPr>
              <a:solidFill>
                <a:srgbClr val="EF4444">
                  <a:alpha val="100000"/>
                </a:srgbClr>
              </a:solidFill>
            </c:spPr>
          </c:dPt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LeaderLines val="1"/>
          </c:dLbls>
          <c:cat>
            <c:strRef>
              <c:f>Sheet1!$A$2:$A$5</c:f>
              <c:strCache>
                <c:ptCount val="4"/>
                <c:pt idx="0">
                  <c:v>Current Competitors</c:v>
                </c:pt>
                <c:pt idx="1">
                  <c:v>Our Share</c:v>
                </c:pt>
                <c:pt idx="2">
                  <c:v>Emerging Players</c:v>
                </c:pt>
                <c:pt idx="3">
                  <c:v>Untapped Potential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</c:v>
                </c:pt>
                <c:pt idx="1">
                  <c:v>15</c:v>
                </c:pt>
                <c:pt idx="2">
                  <c:v>20</c:v>
                </c:pt>
                <c:pt idx="3">
                  <c:v>20</c:v>
                </c:pt>
              </c:numCache>
            </c:numRef>
          </c:val>
        </c:ser>
      </c:pieChart>
    </c:plotArea>
    <c:legend>
      <c:legendPos val="r"/>
      <c:layout>
        <c:manualLayout>
          <c:xMode val="edge"/>
          <c:yMode val="edge"/>
        </c:manualLayout>
      </c:layout>
      <c:overlay val="0"/>
      <c:spPr>
        <a:noFill/>
        <a:ln w="9525" cap="flat" cmpd="sng" algn="ctr">
          <a:solidFill>
            <a:srgbClr val="000000">
              <a:alpha val="100000"/>
            </a:srgbClr>
          </a:solidFill>
          <a:prstDash val="solid"/>
          <a:round/>
          <a:headEnd type="none" w="med" len="med"/>
          <a:tailEnd type="none" w="med" len="med"/>
        </a:ln>
      </c:spPr>
      <c:txPr>
        <a:bodyPr/>
        <a:lstStyle/>
        <a:p>
          <a:pPr algn="l" fontAlgn="base" marL="0" marR="0" indent="0" lvl="0">
            <a:defRPr b="false" i="false" strike="noStrike" sz="1000" u="none">
              <a:solidFill>
                <a:srgbClr val="000000">
                  <a:alpha val="100000"/>
                </a:srgbClr>
              </a:solidFill>
              <a:latin typeface="Calibri"/>
            </a:defRPr>
          </a:pPr>
          <a:endParaRPr lang="en-US" dirty="0"/>
        </a:p>
      </c:txPr>
    </c:legend>
    <c:plotVisOnly val="1"/>
    <c:dispBlanksAs val="zero"/>
  </c:chart>
  <c:spPr>
    <a:noFill/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71092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A31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22409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233A63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1ED6A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1ED6A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Use an official proposal design with a navy hero slide, white interior pages, an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May 9, 2026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22409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1ED6A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233A63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22409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Official Proposal: Strategic Business Expansion Pla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22409A">
                    <a:alpha val="100000"/>
                  </a:srgbClr>
                </a:solidFill>
                <a:latin typeface="Calibri"/>
              </a:rPr>
              <a:t><![CDATA[Title Slid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posal Title: Strategic Business Expansion Initiativ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btitle: Enhancing Market Presence and Revenue Growth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senter: Kwati AI Consulting Tea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te: May 09,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mpany Logo Placeholder: [Insert Company Logo Here]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0E3A6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410200" y="0"/>
            <a:ext cx="2019300" cy="838200"/>
          </a:xfrm>
          <a:prstGeom prst="rect">
            <a:avLst/>
          </a:prstGeom>
          <a:solidFill>
            <a:srgbClr val="1454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143750" y="0"/>
            <a:ext cx="209550" cy="8382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85800" y="1295400"/>
            <a:ext cx="7772400" cy="2933700"/>
          </a:xfrm>
          <a:prstGeom prst="rect">
            <a:avLst/>
          </a:prstGeom>
          <a:solidFill>
            <a:srgbClr val="F6F8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85800" y="1295400"/>
            <a:ext cx="7772400" cy="381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0E3A67">
                    <a:alpha val="100000"/>
                  </a:srgbClr>
                </a:solidFill>
                <a:latin typeface="Calibri"/>
              </a:rPr>
              <a:t><![CDATA[Agenda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verview of Current Business Landscap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posed Expansion Strategy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arket Analysis and Opportuniti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inancial Projec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mplementation Timeline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438900" y="0"/>
            <a:ext cx="2705100" cy="5143500"/>
          </a:xfrm>
          <a:prstGeom prst="rect">
            <a:avLst/>
          </a:prstGeom>
          <a:solidFill>
            <a:srgbClr val="123E6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0" y="0"/>
            <a:ext cx="419100" cy="5143500"/>
          </a:xfrm>
          <a:prstGeom prst="rect">
            <a:avLst/>
          </a:prstGeom>
          <a:solidFill>
            <a:srgbClr val="1A5C9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981700" y="0"/>
            <a:ext cx="133350" cy="51435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09600" y="1238250"/>
            <a:ext cx="4762500" cy="29908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09600" y="1238250"/>
            <a:ext cx="4762500" cy="381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0B2C4B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isks and Mitiga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clusion and Next Steps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rgbClr val="163F6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114550" y="0"/>
            <a:ext cx="685800" cy="5143500"/>
          </a:xfrm>
          <a:prstGeom prst="rect">
            <a:avLst/>
          </a:prstGeom>
          <a:solidFill>
            <a:srgbClr val="245E8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2647950" y="0"/>
            <a:ext cx="152400" cy="51435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3162300" y="1143000"/>
            <a:ext cx="5429250" cy="30861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3162300" y="1143000"/>
            <a:ext cx="5429250" cy="381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urrent Business Landscape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stablished market position with 15% share in core sector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nnual revenue: $5.2 million, growing at 8% YoY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strengths: Strong brand loyalty and operational efficiency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hallenges: Limited geographic reach and emerging competi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ur current operations provide a solid foundation, but to sustain growth in a competitive environment, targeted expansion is essential. This proposal outlines a data-driven approach to scale effectively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22409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1ED6A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233A63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22409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roposed Expansion Strategy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nter two new regional markets: Southeast Asia and European Un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duct diversification: Introduce three new service lines tailored to local need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artnership model: Collaborate with local firms for faster market entry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vestment focus: Allocate 20% of budget to digital marketing and R&D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is strategy leverages our core competencies while addressing untapped opportunities, aiming for a 25% revenue increase within 18 months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438900" y="0"/>
            <a:ext cx="2705100" cy="5143500"/>
          </a:xfrm>
          <a:prstGeom prst="rect">
            <a:avLst/>
          </a:prstGeom>
          <a:solidFill>
            <a:srgbClr val="0E3A6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0" y="0"/>
            <a:ext cx="419100" cy="5143500"/>
          </a:xfrm>
          <a:prstGeom prst="rect">
            <a:avLst/>
          </a:prstGeom>
          <a:solidFill>
            <a:srgbClr val="1454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981700" y="0"/>
            <a:ext cx="133350" cy="51435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09600" y="1238250"/>
            <a:ext cx="4762500" cy="29908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09600" y="1238250"/>
            <a:ext cx="4762500" cy="381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092847">
                    <a:alpha val="100000"/>
                  </a:srgbClr>
                </a:solidFill>
                <a:latin typeface="Calibri"/>
              </a:rPr>
              <a:t><![CDATA[Market Analysis]]></a:t>
            </a:r>
          </a:p>
        </p:txBody>
      </p:sp>
      <p:sp>
        <p:nvSpPr>
          <p:cNvPr id="9" name="" descr=""/>
          <p:cNvSpPr/>
          <p:nvPr/>
        </p:nvSpPr>
        <p:spPr>
          <a:xfrm>
            <a:off x="914400" y="1314450"/>
            <a:ext cx="7315200" cy="31432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0" name="" descr=""/>
          <p:cNvSpPr/>
          <p:nvPr/>
        </p:nvSpPr>
        <p:spPr>
          <a:xfrm>
            <a:off x="914400" y="1314450"/>
            <a:ext cx="7315200" cy="952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graphicFrame>
        <p:nvGraphicFramePr>
          <p:cNvPr id="11" name="Market Analysis" descr=""/>
          <p:cNvGraphicFramePr/>
          <p:nvPr/>
        </p:nvGraphicFramePr>
        <p:xfrm>
          <a:off x="1143000" y="1524000"/>
          <a:ext cx="68580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"/>
          <p:cNvSpPr txBox="1"/>
          <p:nvPr/>
        </p:nvSpPr>
        <p:spPr>
          <a:xfrm>
            <a:off x="1143000" y="4629150"/>
            <a:ext cx="3429000" cy="33337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Share of total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rgbClr val="123E6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114550" y="0"/>
            <a:ext cx="685800" cy="5143500"/>
          </a:xfrm>
          <a:prstGeom prst="rect">
            <a:avLst/>
          </a:prstGeom>
          <a:solidFill>
            <a:srgbClr val="1A5C9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2647950" y="0"/>
            <a:ext cx="152400" cy="51435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3162300" y="1143000"/>
            <a:ext cx="5429250" cy="30861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3162300" y="1143000"/>
            <a:ext cx="5429250" cy="381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Growth drivers: Digital transformation and regulatory changes favoring innova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WOT summary: Strengths in technology; opportunities in emerging economi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nalysis reveals high potential in underserved segments, with our unique value proposition positioning us for leadership.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3F6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410200" y="0"/>
            <a:ext cx="2019300" cy="838200"/>
          </a:xfrm>
          <a:prstGeom prst="rect">
            <a:avLst/>
          </a:prstGeom>
          <a:solidFill>
            <a:srgbClr val="245E8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143750" y="0"/>
            <a:ext cx="209550" cy="8382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85800" y="1295400"/>
            <a:ext cx="7772400" cy="2933700"/>
          </a:xfrm>
          <a:prstGeom prst="rect">
            <a:avLst/>
          </a:prstGeom>
          <a:solidFill>
            <a:srgbClr val="F6F8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85800" y="1295400"/>
            <a:ext cx="7772400" cy="381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Financial Projection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63F68">
                    <a:alpha val="100000"/>
                  </a:srgbClr>
                </a:solidFill>
                <a:latin typeface="Calibri"/>
              </a:rPr>
              <a:t><![CDATA[Bar Chart: Projected Revenue Growth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Year 1: $6.5 mill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Year 2: $8.1 mill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Year 3: $10.2 mill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OI Target: 18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itial investment required: $1.2 million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22409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1ED6A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233A63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22409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reak-even point: 12 months post-launch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unding sources: Internal reserves (60%) and external financing (40%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ese projections are based on conservative estimates, incorporating market trends and historical data for reliability.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rgbClr val="0E3A6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114550" y="0"/>
            <a:ext cx="685800" cy="5143500"/>
          </a:xfrm>
          <a:prstGeom prst="rect">
            <a:avLst/>
          </a:prstGeom>
          <a:solidFill>
            <a:srgbClr val="1454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2647950" y="0"/>
            <a:ext cx="152400" cy="51435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3162300" y="1143000"/>
            <a:ext cx="5429250" cy="30861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3162300" y="1143000"/>
            <a:ext cx="5429250" cy="381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Implementation Timeline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1 2026: Planning and partnership finaliza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2 2026: Market entry and pilot launch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3-Q4 2026: Full rollout and performance monitoring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ngoing: Quarterly reviews and adjustment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 phased approach ensures minimal disruption while maximizing early wins. Dedicated project teams will oversee execution.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23E6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410200" y="0"/>
            <a:ext cx="2019300" cy="838200"/>
          </a:xfrm>
          <a:prstGeom prst="rect">
            <a:avLst/>
          </a:prstGeom>
          <a:solidFill>
            <a:srgbClr val="1A5C9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143750" y="0"/>
            <a:ext cx="209550" cy="8382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85800" y="1295400"/>
            <a:ext cx="7772400" cy="2933700"/>
          </a:xfrm>
          <a:prstGeom prst="rect">
            <a:avLst/>
          </a:prstGeom>
          <a:solidFill>
            <a:srgbClr val="F6F8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85800" y="1295400"/>
            <a:ext cx="7772400" cy="381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Risks and Mitigation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isk 1: Regulatory hurdles – Mitigation: Engage local legal experts early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isk 2: Supply chain disruptions – Mitigation: Diversify suppliers and build buffer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isk 3: Market adoption delays – Mitigation: Robust marketing campaigns and customer feedback loop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verall contingency: 10% budget reserve for unforeseen issu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active risk management will safeguard the project's success and adaptability.]]>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438900" y="0"/>
            <a:ext cx="2705100" cy="5143500"/>
          </a:xfrm>
          <a:prstGeom prst="rect">
            <a:avLst/>
          </a:prstGeom>
          <a:solidFill>
            <a:srgbClr val="163F6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0" y="0"/>
            <a:ext cx="419100" cy="5143500"/>
          </a:xfrm>
          <a:prstGeom prst="rect">
            <a:avLst/>
          </a:prstGeom>
          <a:solidFill>
            <a:srgbClr val="245E8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981700" y="0"/>
            <a:ext cx="133350" cy="51435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09600" y="1238250"/>
            <a:ext cx="4762500" cy="29908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09600" y="1238250"/>
            <a:ext cx="4762500" cy="381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0C2B47">
                    <a:alpha val="100000"/>
                  </a:srgbClr>
                </a:solidFill>
                <a:latin typeface="Calibri"/>
              </a:rPr>
              <a:t><![CDATA[Conclusion and Next Step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mmary: This expansion plan drives sustainable growth and competitive advantag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all to Action: Approve proposal and initiate Q1 planning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tact: Reach out to [Your Name] at [email] for discuss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 look forward to partnering on this transformative initiative. Thank you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`kwati-sugges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["Can you generate this as a PowerPoint presentation?", "Would you like to add more details to the financial projections?", "How about including a sample chart image for the market analysis?"]]]>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22409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1ED6A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233A63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22409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`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73">
  <a:themeElements>
    <a:clrScheme name="Theme7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73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7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14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2026-05-09T19:26:59Z</dcterms:created>
  <dcterms:modified xsi:type="dcterms:W3CDTF">2026-05-09T19:26:59Z</dcterms:modified>
  <dc:title>Use an official proposal design with a navy hero slide, white interior pages, an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