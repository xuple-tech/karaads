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: Revenue Breakdown by Segment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LeaderLines val="1"/>
          </c:dLbls>
          <c:cat>
            <c:strRef>
              <c:f>Sheet1!$A$2:$A$4</c:f>
              <c:strCache>
                <c:ptCount val="3"/>
                <c:pt idx="0">
                  <c:v>Core Products</c:v>
                </c:pt>
                <c:pt idx="1">
                  <c:v>Services</c:v>
                </c:pt>
                <c:pt idx="2">
                  <c:v>Emerging Markets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</c:pieChart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181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: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lcome to our Q2 2026 Quarterly Business Review. This presentation highlights key performance metrics, achievements, challenges, and forward-looking strategies to drive continued growth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2: Agend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ecutive Summar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 Performa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Metrics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al Highligh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Analysis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 and Risk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ategic Outlook and Q&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agenda outlines the structure of today's review, ensuring a comprehensive discussion of our business trajectory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hieved 12% YoY revenue growth, exceeding targets by 3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ong performance in core markets with expanded customer bas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al efficiencies reduced costs by 8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oking ahead: Focus on innovation and market expans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 Q2, we demonstrated resilience and strategic execution amid economic uncertainties. Overall, the quarter positions us well for sustained momentum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Financial Performanc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: $5.2M (up 12% from Q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t Profit: $1.1M (margin of 21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nses: Controlled at $4.1M, with R&D investments prioritize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sh Flow: Positive $800K, supporting future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financials reflect disciplined management and revenue diversification. Key drivers include higher sales volumes and optimized supply chain cost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ar Chart: Revenue by Quarter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 2026: 4.65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: 5.2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2025: 4.4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4 2025: 4.8M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5: Key Metrics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er Acquisition: 15% increase, totaling 2,500 new cli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tention Rate: 92%, above industry benchmark of 8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duct Usage: Average 25% uplift in daily active us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fficiency Ratio: Improved to 65% from 70% last quarter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metrics underscore our focus on customer-centric growth and operational excellence, directly contributing to bottom-line result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ie Chart: Revenue Breakdown by Segment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Pie Chart: Revenue Breakdown by Segment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hare of total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Operational Highlight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aunched two new product features, boosting user engagement by 18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eamlined supply chain, reducing delivery times by 20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expansion: Added 15 specialists in sales and tec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stainability: Achieved 10% reduction in carbon footpri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ally, Q2 marked significant advancements in innovation and efficiency, aligning with our long-term goals for scalable growth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Market Analysis and Strategic Outlook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Trends: Growing demand in digital transformation secto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ive Landscape: Maintained 25% market shar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Expansion into Asia-Pacific reg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xt Steps: Invest $500K in R&D; target 15% growth in Q3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 market remains dynamic, with opportunities for us to capitalize on emerging trends. Our strategy emphasizes agility and proactive investment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8: Challenges and Risk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ly Chain Disruptions: Mitigated through diversified suppli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conomic Volatility: Hedged with flexible budge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lent Retention: Enhanced programs to maintain 95% reten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tion Plan: Quarterly risk assessments and contingency plann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hile challenges persist, our proactive measures ensure minimal impact on performance.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9: Q&A and Thank You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n floor for qu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Takeaway: Strong Q2 sets foundation for ambitious Q3 goal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business@kwatia.com for follow-up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attention. We're excited about the path ahead and welcome your insigh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kwati-sugg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"Can you generate this as a PowerPoint presentation?", "Would you like to add specific data or customize any slides?", "How about a PDF version of this content?"]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0">
  <a:themeElements>
    <a:clrScheme name="Theme8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2026-05-09T11:19:05Z</dcterms:created>
  <dcterms:modified xsi:type="dcterms:W3CDTF">2026-05-09T11:19:05Z</dcterms:modified>
  <dc:title>Quarterly business review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